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089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822960"/>
            <a:ext cx="105156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ptos"/>
              </a:rPr>
              <a:t>Weekly Comparison: CNN Baseline vs ViT Dropout 0.1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700784"/>
            <a:ext cx="9692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E2E8F0"/>
                </a:solidFill>
                <a:latin typeface="Aptos"/>
              </a:rPr>
              <a:t>Weekly experiment comparison deck generated from existing run artifacts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" y="2331720"/>
            <a:ext cx="2505456" cy="457200"/>
          </a:xfrm>
          <a:prstGeom prst="round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2441448"/>
            <a:ext cx="215798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CNN Baseline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47287" y="2331720"/>
            <a:ext cx="2505456" cy="457200"/>
          </a:xfrm>
          <a:prstGeom prst="round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30168" y="2441448"/>
            <a:ext cx="2157984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ViT Dropout 0.1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657600"/>
            <a:ext cx="5577840" cy="2057400"/>
          </a:xfrm>
          <a:prstGeom prst="round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Report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15968"/>
            <a:ext cx="4800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>
                <a:solidFill>
                  <a:srgbClr val="E2E8F0"/>
                </a:solidFill>
                <a:latin typeface="Aptos"/>
              </a:rPr>
              <a:t>Reference run: CNN Baseline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>
                <a:solidFill>
                  <a:srgbClr val="E2E8F0"/>
                </a:solidFill>
                <a:latin typeface="Aptos"/>
              </a:rPr>
              <a:t>Compared runs: 2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200">
                <a:solidFill>
                  <a:srgbClr val="E2E8F0"/>
                </a:solidFill>
                <a:latin typeface="Aptos"/>
              </a:rPr>
              <a:t>Shared training metrics: Test ACC, Test Loss, Train ACC, Train Loss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Generated 2026-05-27 22:33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6446520"/>
            <a:ext cx="3108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Report name: weekly_cnn_vs_vit_baseline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Run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Experiment Setup and Run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Keep the first --run as the reference baseline for meeting comparisons.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572768"/>
            <a:ext cx="5394960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572768"/>
            <a:ext cx="137160" cy="2880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737360"/>
            <a:ext cx="501091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293B"/>
                </a:solidFill>
                <a:latin typeface="Aptos"/>
              </a:rPr>
              <a:t>CNN 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139696"/>
            <a:ext cx="5010912" cy="2167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Run ID: cnn_resnet18_baseline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Model / device: resnet18 / cuda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Epochs completed: 20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Batch / LR / WD: 64 / 0.0001 / 0.01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Script: train_cnn_cifar10.py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model.architecture: resnet18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model.image_size: 224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572768"/>
            <a:ext cx="5394960" cy="2880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572768"/>
            <a:ext cx="137160" cy="28803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2" y="1737360"/>
            <a:ext cx="501091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293B"/>
                </a:solidFill>
                <a:latin typeface="Aptos"/>
              </a:rPr>
              <a:t>ViT Dropout 0.1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672" y="2139696"/>
            <a:ext cx="5010912" cy="21671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Run ID: vit_dropout_01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Model / device: vit / cuda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Epochs completed: 20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Batch / LR / WD: 128 / 0.0003 / 0.05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Script: train_cifar10.py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model.attention_dropout: 0.1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model.embed_dim: 128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Run cards surface the main hyperparameters and monitoring settings without crowding a table.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6446520"/>
            <a:ext cx="3108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Page group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Results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Headline findings are phrased for direct use in a weekly update.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45920"/>
            <a:ext cx="58064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>
                <a:solidFill>
                  <a:srgbClr val="1E293B"/>
                </a:solidFill>
                <a:latin typeface="Aptos"/>
              </a:rPr>
              <a:t>Primary comparison metric: Test ACC. Best final result is CNN Baseline with 94.92%.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500">
                <a:solidFill>
                  <a:srgbClr val="1E293B"/>
                </a:solidFill>
                <a:latin typeface="Aptos"/>
              </a:rPr>
              <a:t>Largest train-to-test accuracy gap appears in CNN Baseline (4.58 pp), worth calling out during generalization discussion.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12280" y="1737360"/>
            <a:ext cx="22402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76872" y="1901952"/>
            <a:ext cx="19110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4748B"/>
                </a:solidFill>
                <a:latin typeface="Aptos"/>
              </a:rPr>
              <a:t>Best primary metric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76872" y="2240280"/>
            <a:ext cx="1911096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6A34A"/>
                </a:solidFill>
                <a:latin typeface="Aptos"/>
              </a:rPr>
              <a:t>CNN Baseline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235440" y="1737360"/>
            <a:ext cx="22402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00032" y="1901952"/>
            <a:ext cx="19110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4748B"/>
                </a:solidFill>
                <a:latin typeface="Aptos"/>
              </a:rPr>
              <a:t>Test ACC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00032" y="2240280"/>
            <a:ext cx="1911096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563EB"/>
                </a:solidFill>
                <a:latin typeface="Aptos"/>
              </a:rPr>
              <a:t>94.92%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12280" y="3154680"/>
            <a:ext cx="22402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76872" y="3319272"/>
            <a:ext cx="19110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4748B"/>
                </a:solidFill>
                <a:latin typeface="Aptos"/>
              </a:rPr>
              <a:t>Runs compared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76872" y="3657600"/>
            <a:ext cx="1911096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891B2"/>
                </a:solidFill>
                <a:latin typeface="Aptos"/>
              </a:rP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3154680"/>
            <a:ext cx="22402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00032" y="3319272"/>
            <a:ext cx="19110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64748B"/>
                </a:solidFill>
                <a:latin typeface="Aptos"/>
              </a:rPr>
              <a:t>Metrics tracked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00032" y="3657600"/>
            <a:ext cx="1911096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891B2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This slide replaces generic 'key takeaways' text with meeting-ready comparison statements.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Comparison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Result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Compact overview of the most important final metrics and selected checkpoint epoch.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572768"/>
          <a:ext cx="11155679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7363"/>
                <a:gridCol w="1338681"/>
                <a:gridCol w="1427927"/>
                <a:gridCol w="1427927"/>
                <a:gridCol w="1427927"/>
                <a:gridCol w="1427927"/>
                <a:gridCol w="1427927"/>
              </a:tblGrid>
              <a:tr h="1508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E293B"/>
                          </a:solidFill>
                          <a:latin typeface="Aptos"/>
                        </a:rPr>
                        <a:t>Run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E293B"/>
                          </a:solidFill>
                          <a:latin typeface="Aptos"/>
                        </a:rPr>
                        <a:t>Model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E293B"/>
                          </a:solidFill>
                          <a:latin typeface="Aptos"/>
                        </a:rPr>
                        <a:t>Epochs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E293B"/>
                          </a:solidFill>
                          <a:latin typeface="Aptos"/>
                        </a:rPr>
                        <a:t>Selected Epoch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E293B"/>
                          </a:solidFill>
                          <a:latin typeface="Aptos"/>
                        </a:rPr>
                        <a:t>Test ACC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E293B"/>
                          </a:solidFill>
                          <a:latin typeface="Aptos"/>
                        </a:rPr>
                        <a:t>Test Loss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1">
                          <a:solidFill>
                            <a:srgbClr val="1E293B"/>
                          </a:solidFill>
                          <a:latin typeface="Aptos"/>
                        </a:rPr>
                        <a:t>Train ACC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</a:tr>
              <a:tr h="1508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CNN Baseline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resnet18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20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n/a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94.92%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0.2116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99.50%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1508760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 Dropout 0.1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vit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20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n/a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73.40%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0.7734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100" b="0">
                          <a:solidFill>
                            <a:srgbClr val="1E293B"/>
                          </a:solidFill>
                          <a:latin typeface="Aptos"/>
                        </a:rPr>
                        <a:t>71.49%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This table is intentionally compact so it remains readable on projected slides.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Comparison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Main Metrics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Each row is a meeting-friendly metric statement rather than a raw logger dump.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572768"/>
          <a:ext cx="11155678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7363"/>
                <a:gridCol w="1338681"/>
                <a:gridCol w="2379878"/>
                <a:gridCol w="2379878"/>
                <a:gridCol w="2379878"/>
              </a:tblGrid>
              <a:tr h="90525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1">
                          <a:solidFill>
                            <a:srgbClr val="1E293B"/>
                          </a:solidFill>
                          <a:latin typeface="Aptos"/>
                        </a:rPr>
                        <a:t>Metric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1">
                          <a:solidFill>
                            <a:srgbClr val="1E293B"/>
                          </a:solidFill>
                          <a:latin typeface="Aptos"/>
                        </a:rPr>
                        <a:t>Direction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1">
                          <a:solidFill>
                            <a:srgbClr val="1E293B"/>
                          </a:solidFill>
                          <a:latin typeface="Aptos"/>
                        </a:rPr>
                        <a:t>CNN Baseline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1">
                          <a:solidFill>
                            <a:srgbClr val="1E293B"/>
                          </a:solidFill>
                          <a:latin typeface="Aptos"/>
                        </a:rPr>
                        <a:t>ViT Dropout 0.1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1">
                          <a:solidFill>
                            <a:srgbClr val="1E293B"/>
                          </a:solidFill>
                          <a:latin typeface="Aptos"/>
                        </a:rPr>
                        <a:t>Best Run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Final Test ACC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94.92%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73.40%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CNN Baseline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Final Test Loss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Lower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0.2116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0.7734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CNN Baseline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Final Train ACC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Higher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99.50%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71.49%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CNN Baseline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Final Train Loss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Lower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0.0145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0.7968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400" b="0">
                          <a:solidFill>
                            <a:srgbClr val="1E293B"/>
                          </a:solidFill>
                          <a:latin typeface="Aptos"/>
                        </a:rPr>
                        <a:t>CNN Baseline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Direction indicates whether higher or lower values are preferable.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Comparison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Config Differences (1/3)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Showing the top 18 differing settings for experiment traceability.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572768"/>
          <a:ext cx="11155679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7363"/>
                <a:gridCol w="4239158"/>
                <a:gridCol w="4239158"/>
              </a:tblGrid>
              <a:tr h="565785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1E293B"/>
                          </a:solidFill>
                          <a:latin typeface="Aptos"/>
                        </a:rPr>
                        <a:t>Config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1E293B"/>
                          </a:solidFill>
                          <a:latin typeface="Aptos"/>
                        </a:rPr>
                        <a:t>CNN Baseline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1E293B"/>
                          </a:solidFill>
                          <a:latin typeface="Aptos"/>
                        </a:rPr>
                        <a:t>ViT Dropout 0.1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model.architecture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resnet18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None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model.attention_dropout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None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0.1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model.embed_dim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None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128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model.embedding_dropout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None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0.1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model.image_size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224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None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model.img_size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None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32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model.in_channels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None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Long config lists are paginated automatically to avoid overflow and tiny fonts.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Comparison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Config Differences (2/3)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Showing the top 18 differing settings for experiment traceability.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572768"/>
          <a:ext cx="11155679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7363"/>
                <a:gridCol w="4239158"/>
                <a:gridCol w="4239158"/>
              </a:tblGrid>
              <a:tr h="565785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1E293B"/>
                          </a:solidFill>
                          <a:latin typeface="Aptos"/>
                        </a:rPr>
                        <a:t>Config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1E293B"/>
                          </a:solidFill>
                          <a:latin typeface="Aptos"/>
                        </a:rPr>
                        <a:t>CNN Baseline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1E293B"/>
                          </a:solidFill>
                          <a:latin typeface="Aptos"/>
                        </a:rPr>
                        <a:t>ViT Dropout 0.1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model.mlp_dropout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None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0.1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model.mlp_hidden_dim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None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512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model.num_blocks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None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model.num_heads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None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model.patch_size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None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model.projection_dropout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None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0.1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  <a:tr h="565785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model.weights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imagenet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None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Long config lists are paginated automatically to avoid overflow and tiny fonts.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Comparison 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Config Differences (3/3)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Showing the top 18 differing settings for experiment traceability.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572768"/>
          <a:ext cx="11155679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7363"/>
                <a:gridCol w="4239158"/>
                <a:gridCol w="4239158"/>
              </a:tblGrid>
              <a:tr h="90525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1E293B"/>
                          </a:solidFill>
                          <a:latin typeface="Aptos"/>
                        </a:rPr>
                        <a:t>Config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1E293B"/>
                          </a:solidFill>
                          <a:latin typeface="Aptos"/>
                        </a:rPr>
                        <a:t>CNN Baseline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1">
                          <a:solidFill>
                            <a:srgbClr val="1E293B"/>
                          </a:solidFill>
                          <a:latin typeface="Aptos"/>
                        </a:rPr>
                        <a:t>ViT Dropout 0.1</a:t>
                      </a:r>
                    </a:p>
                  </a:txBody>
                  <a:tcPr anchor="ctr" marL="73152" marR="73152" marT="27432" marB="27432">
                    <a:solidFill>
                      <a:srgbClr val="E2E8F0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training.batch_size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64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128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training.lr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0.0001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0.0003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training.weight_decay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0.01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0.05</a:t>
                      </a:r>
                    </a:p>
                  </a:txBody>
                  <a:tcPr anchor="ctr" marL="73152" marR="73152" marT="27432" marB="27432"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command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train_cnn_cifar10.py --epochs 20...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</a:pPr>
                      <a:r>
                        <a:rPr sz="1000" b="0">
                          <a:solidFill>
                            <a:srgbClr val="1E293B"/>
                          </a:solidFill>
                          <a:latin typeface="Aptos"/>
                        </a:rPr>
                        <a:t>train_cifar10.py --epochs 20 --run-...</a:t>
                      </a:r>
                    </a:p>
                  </a:txBody>
                  <a:tcPr anchor="ctr" marL="73152" marR="73152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Long config lists are paginated automatically to avoid overflow and tiny fonts.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Curves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Training Curves (1/2)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Curves use a consistent title pattern and highlight the final operating point.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est_acc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72768"/>
            <a:ext cx="5166360" cy="302626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5166360"/>
            <a:ext cx="5166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E293B"/>
                </a:solidFill>
                <a:latin typeface="Aptos"/>
              </a:rPr>
              <a:t>Test ACC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440680"/>
            <a:ext cx="5166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ptos"/>
              </a:rPr>
              <a:t>Best final value: CNN Baseline (94.92%)</a:t>
            </a:r>
          </a:p>
        </p:txBody>
      </p:sp>
      <p:pic>
        <p:nvPicPr>
          <p:cNvPr id="10" name="Picture 9" descr="test_loss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572768"/>
            <a:ext cx="5166360" cy="302626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89320" y="5166360"/>
            <a:ext cx="5166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E293B"/>
                </a:solidFill>
                <a:latin typeface="Aptos"/>
              </a:rPr>
              <a:t>Test Loss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5440680"/>
            <a:ext cx="5166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ptos"/>
              </a:rPr>
              <a:t>Best final value: CNN Baseline (0.2116)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Use these pages for trend discussion; use tables for exact values.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Curves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Training Curves (2/2)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Curves use a consistent title pattern and highlight the final operating point.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rain_acc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72768"/>
            <a:ext cx="5166360" cy="302626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5166360"/>
            <a:ext cx="5166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E293B"/>
                </a:solidFill>
                <a:latin typeface="Aptos"/>
              </a:rPr>
              <a:t>Train ACC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440680"/>
            <a:ext cx="5166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ptos"/>
              </a:rPr>
              <a:t>Best final value: CNN Baseline (99.50%)</a:t>
            </a:r>
          </a:p>
        </p:txBody>
      </p:sp>
      <p:pic>
        <p:nvPicPr>
          <p:cNvPr id="10" name="Picture 9" descr="train_loss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572768"/>
            <a:ext cx="5166360" cy="302626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89320" y="5166360"/>
            <a:ext cx="51663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E293B"/>
                </a:solidFill>
                <a:latin typeface="Aptos"/>
              </a:rPr>
              <a:t>Train Loss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5440680"/>
            <a:ext cx="5166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ptos"/>
              </a:rPr>
              <a:t>Best final value: CNN Baseline (0.0145)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Use these pages for trend discussion; use tables for exact values.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1737360" cy="310896"/>
          </a:xfrm>
          <a:prstGeom prst="round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463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Aptos"/>
              </a:rPr>
              <a:t>Close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95527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E293B"/>
                </a:solidFill>
                <a:latin typeface="Aptos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064" y="1042415"/>
            <a:ext cx="10881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ptos"/>
              </a:rPr>
              <a:t>Short, reusable wrap-up slide for weekly meetings.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98448"/>
            <a:ext cx="111556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783080"/>
            <a:ext cx="6675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600">
                <a:solidFill>
                  <a:srgbClr val="1E293B"/>
                </a:solidFill>
                <a:latin typeface="Aptos"/>
              </a:rPr>
              <a:t>Current headline result: CNN Baseline leads on Test ACC with 94.92%.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600">
                <a:solidFill>
                  <a:srgbClr val="1E293B"/>
                </a:solidFill>
                <a:latin typeface="Aptos"/>
              </a:rPr>
              <a:t>When presenting baseline vs comparison, use CNN Baseline as reference and report ViT Dropout 0.1 at -21.52 pp on Test ACC.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600">
                <a:solidFill>
                  <a:srgbClr val="1E293B"/>
                </a:solidFill>
                <a:latin typeface="Aptos"/>
              </a:rPr>
              <a:t>The deck is now organized for weekly reporting: setup, overview, key metrics, curves, error analysis, and a conclusion slide instead of raw log-style export.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1920240"/>
            <a:ext cx="33832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18120" y="1920240"/>
            <a:ext cx="137160" cy="21031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74152" y="2084832"/>
            <a:ext cx="2999232" cy="3291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293B"/>
                </a:solidFill>
                <a:latin typeface="Aptos"/>
              </a:rPr>
              <a:t>Recommended next 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74152" y="2487168"/>
            <a:ext cx="2999232" cy="1389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Keep the baseline run first in the command line.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Append new runs with readable labels.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1E293B"/>
                </a:solidFill>
                <a:latin typeface="Aptos"/>
              </a:rPr>
              <a:t>Reuse this deck directly for group meetings.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46520"/>
            <a:ext cx="6035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ptos"/>
              </a:rPr>
              <a:t>The goal is to export a presentable deck, not a raw artifact dump.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