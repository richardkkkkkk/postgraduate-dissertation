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19456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82296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Aptos"/>
              </a:rPr>
              <a:t>CIFAR-10 Positional Encoding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828800"/>
            <a:ext cx="9692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E2E8F0"/>
                </a:solidFill>
                <a:latin typeface="Aptos"/>
              </a:rPr>
              <a:t>Weekly experiment comparison deck generated from existing run artifacts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6656" y="2468880"/>
            <a:ext cx="2505456" cy="457200"/>
          </a:xfrm>
          <a:prstGeom prst="roundRect">
            <a:avLst/>
          </a:prstGeom>
          <a:solidFill>
            <a:srgbClr val="1E293B"/>
          </a:solidFill>
          <a:ln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2578608"/>
            <a:ext cx="2157984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ViT No Pos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47287" y="2468880"/>
            <a:ext cx="2505456" cy="457200"/>
          </a:xfrm>
          <a:prstGeom prst="roundRect">
            <a:avLst/>
          </a:prstGeom>
          <a:solidFill>
            <a:srgbClr val="1E293B"/>
          </a:solidFill>
          <a:ln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30168" y="2578608"/>
            <a:ext cx="2157984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ViT Baseline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468880"/>
            <a:ext cx="2505456" cy="457200"/>
          </a:xfrm>
          <a:prstGeom prst="roundRect">
            <a:avLst/>
          </a:prstGeom>
          <a:solidFill>
            <a:srgbClr val="1E293B"/>
          </a:solidFill>
          <a:ln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2578608"/>
            <a:ext cx="2157984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ViT Row-wise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88552" y="2468880"/>
            <a:ext cx="2505456" cy="457200"/>
          </a:xfrm>
          <a:prstGeom prst="roundRect">
            <a:avLst/>
          </a:prstGeom>
          <a:solidFill>
            <a:srgbClr val="1E293B"/>
          </a:solidFill>
          <a:ln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71432" y="2578608"/>
            <a:ext cx="2157984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ViT Column-wise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657600"/>
            <a:ext cx="5577840" cy="2057400"/>
          </a:xfrm>
          <a:prstGeom prst="roundRect">
            <a:avLst/>
          </a:prstGeom>
          <a:solidFill>
            <a:srgbClr val="1E293B"/>
          </a:solidFill>
          <a:ln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93192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ptos"/>
              </a:rPr>
              <a:t>Report scope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315968"/>
            <a:ext cx="4800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00">
                <a:solidFill>
                  <a:srgbClr val="E2E8F0"/>
                </a:solidFill>
                <a:latin typeface="Aptos"/>
              </a:rPr>
              <a:t>Comparison scenario: Multi-run comparison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00">
                <a:solidFill>
                  <a:srgbClr val="E2E8F0"/>
                </a:solidFill>
                <a:latin typeface="Aptos"/>
              </a:rPr>
              <a:t>Reference run: ViT No Pos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00">
                <a:solidFill>
                  <a:srgbClr val="E2E8F0"/>
                </a:solidFill>
                <a:latin typeface="Aptos"/>
              </a:rPr>
              <a:t>Compared runs: 8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00">
                <a:solidFill>
                  <a:srgbClr val="E2E8F0"/>
                </a:solidFill>
                <a:latin typeface="Aptos"/>
              </a:rPr>
              <a:t>Shared training metrics: Test ACC, Val ACC, Test 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46520"/>
            <a:ext cx="6035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ptos"/>
              </a:rPr>
              <a:t>Generated 2026-07-02 13:01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49640" y="6446520"/>
            <a:ext cx="31089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ptos"/>
              </a:rPr>
              <a:t>Report name: cifar10_positional_8models_report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737360" cy="310896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Aptos"/>
              </a:rPr>
              <a:t>Run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79552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293B"/>
                </a:solidFill>
                <a:latin typeface="Aptos"/>
              </a:rPr>
              <a:t>Experiment Setup and Run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1042415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ptos"/>
              </a:rPr>
              <a:t>Keep the first --run as the reference baseline for meeting comparisons.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554480"/>
            <a:ext cx="5394960" cy="19933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554480"/>
            <a:ext cx="137160" cy="199339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1719072"/>
            <a:ext cx="501091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293B"/>
                </a:solidFill>
                <a:latin typeface="Aptos"/>
              </a:rPr>
              <a:t>ViT No Pos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2121408"/>
            <a:ext cx="501091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Run ID: vit_no_pos_cifar10_seed42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Model / device: ViT No Pos / cuda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Epochs completed: 59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Family / variant: ViT / No Pos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Position / init: None / From scratch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Batch / LR / WD: 128 / 0.0003 / 0.05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554480"/>
            <a:ext cx="5394960" cy="19933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554480"/>
            <a:ext cx="137160" cy="199339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9672" y="1719072"/>
            <a:ext cx="501091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293B"/>
                </a:solidFill>
                <a:latin typeface="Aptos"/>
              </a:rPr>
              <a:t>ViT Baseline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9672" y="2121408"/>
            <a:ext cx="501091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Run ID: vit_baseline_cifar10_seed42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Model / device: ViT Baseline / cuda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Epochs completed: 66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Family / variant: ViT / Baseline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Position / init: Absolute / From scratch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Batch / LR / WD: 128 / 0.0003 / 0.05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886200"/>
            <a:ext cx="5394960" cy="19933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3886200"/>
            <a:ext cx="137160" cy="199339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" y="4050791"/>
            <a:ext cx="501091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293B"/>
                </a:solidFill>
                <a:latin typeface="Aptos"/>
              </a:rPr>
              <a:t>ViT Row-wise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2" y="4453128"/>
            <a:ext cx="501091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Run ID: vit_row_cifar10_seed42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Model / device: ViT Row-wise Sinusoidal / cuda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Epochs completed: 61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Family / variant: ViT / Row-wise Sinusoidal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Position / init: Row-wise Sinusoidal / From scratch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Batch / LR / WD: 128 / 0.0003 / 0.05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3886200"/>
            <a:ext cx="5394960" cy="19933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3886200"/>
            <a:ext cx="137160" cy="199339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9672" y="4050791"/>
            <a:ext cx="501091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293B"/>
                </a:solidFill>
                <a:latin typeface="Aptos"/>
              </a:rPr>
              <a:t>ViT Column-wise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9672" y="4453128"/>
            <a:ext cx="501091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Run ID: vit_col_cifar10_seed42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Model / device: ViT Column-wise Sinusoidal / cuda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Epochs completed: 50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Family / variant: ViT / Column-wise Sinusoidal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Position / init: Column-wise Sinusoidal / From scratch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Batch / LR / WD: 128 / 0.0003 / 0.05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46520"/>
            <a:ext cx="6035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ptos"/>
              </a:rPr>
              <a:t>Run cards surface the main hyperparameters and monitoring settings without crowding a table.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9640" y="6446520"/>
            <a:ext cx="31089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ptos"/>
              </a:rPr>
              <a:t>Page group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737360" cy="310896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Aptos"/>
              </a:rPr>
              <a:t>Run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79552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293B"/>
                </a:solidFill>
                <a:latin typeface="Aptos"/>
              </a:rPr>
              <a:t>Experiment Setup and Run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1042415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ptos"/>
              </a:rPr>
              <a:t>Keep the first --run as the reference baseline for meeting comparisons.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554480"/>
            <a:ext cx="5394960" cy="19933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554480"/>
            <a:ext cx="137160" cy="199339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1719072"/>
            <a:ext cx="501091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293B"/>
                </a:solidFill>
                <a:latin typeface="Aptos"/>
              </a:rPr>
              <a:t>ViT Additive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2121408"/>
            <a:ext cx="501091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Run ID: vit_additive_cifar10_seed42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Model / device: ViT Additive Sinusoidal / cuda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Epochs completed: 70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Family / variant: ViT / Additive Sinusoidal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Position / init: Additive Sinusoidal / From scratch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Batch / LR / WD: 128 / 0.0003 / 0.05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554480"/>
            <a:ext cx="5394960" cy="19933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554480"/>
            <a:ext cx="137160" cy="199339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9672" y="1719072"/>
            <a:ext cx="501091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293B"/>
                </a:solidFill>
                <a:latin typeface="Aptos"/>
              </a:rPr>
              <a:t>ViT Additive Shifted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9672" y="2121408"/>
            <a:ext cx="501091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Run ID: vit_additive_shifted_cifar10_seed42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Model / device: ViT Additive Sinusoidal Shifted / cuda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Epochs completed: 67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Family / variant: ViT / Additive Sinusoidal Shifted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Position / init: Additive Sinusoidal Shifted / From scratch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Batch / LR / WD: 128 / 0.0003 / 0.05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886200"/>
            <a:ext cx="5394960" cy="19933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3886200"/>
            <a:ext cx="137160" cy="199339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" y="4050791"/>
            <a:ext cx="501091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293B"/>
                </a:solidFill>
                <a:latin typeface="Aptos"/>
              </a:rPr>
              <a:t>ViT Multiplicative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2" y="4453128"/>
            <a:ext cx="501091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Run ID: vit_multi_cifar10_seed42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Model / device: ViT Multiplicative Sinusoidal / cuda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Epochs completed: 48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Family / variant: ViT / Multiplicative Sinusoidal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Position / init: Multiplicative Sinusoidal / From scratch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Batch / LR / WD: 128 / 0.0003 / 0.05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3886200"/>
            <a:ext cx="5394960" cy="19933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3886200"/>
            <a:ext cx="137160" cy="199339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9672" y="4050791"/>
            <a:ext cx="501091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293B"/>
                </a:solidFill>
                <a:latin typeface="Aptos"/>
              </a:rPr>
              <a:t>ViT Multiplicative Shifted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9672" y="4453128"/>
            <a:ext cx="501091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Run ID: vit_multi_shifted_cifar10_seed42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Model / device: ViT Multiplicative Sinusoidal Shifted / cuda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Epochs completed: 70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Family / variant: ViT / Multiplicative Sinusoidal Shifted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Position / init: Multiplicative Sinusoidal Shifted / From scratch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Batch / LR / WD: 128 / 0.0003 / 0.05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46520"/>
            <a:ext cx="6035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ptos"/>
              </a:rPr>
              <a:t>Run cards surface the main hyperparameters and monitoring settings without crowding a table.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9640" y="6446520"/>
            <a:ext cx="31089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ptos"/>
              </a:rPr>
              <a:t>Page group 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737360" cy="310896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Aptos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79552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293B"/>
                </a:solidFill>
                <a:latin typeface="Aptos"/>
              </a:rPr>
              <a:t>Results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1042415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ptos"/>
              </a:rPr>
              <a:t>Headline findings are phrased for direct use in a weekly update.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45920"/>
            <a:ext cx="58064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>
                <a:solidFill>
                  <a:srgbClr val="1E293B"/>
                </a:solidFill>
                <a:latin typeface="Aptos"/>
              </a:rPr>
              <a:t>Primary comparison metric: Test ACC. Best final result is ViT Baseline with 78.03%.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>
                <a:solidFill>
                  <a:srgbClr val="1E293B"/>
                </a:solidFill>
                <a:latin typeface="Aptos"/>
              </a:rPr>
              <a:t>Against reference run ViT No Pos, ViT Baseline changes Test ACC by +6.61 pp.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>
                <a:solidFill>
                  <a:srgbClr val="1E293B"/>
                </a:solidFill>
                <a:latin typeface="Aptos"/>
              </a:rPr>
              <a:t>Largest train-to-test accuracy gap appears in ViT No Pos (23.58 pp), worth calling out during generalization discussion.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>
                <a:solidFill>
                  <a:srgbClr val="1E293B"/>
                </a:solidFill>
                <a:latin typeface="Aptos"/>
              </a:rPr>
              <a:t>Early stopping summary: ViT No Pos: stopped early; ViT Baseline: stopped early; ViT Row-wise: stopped early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12280" y="1737360"/>
            <a:ext cx="224028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76872" y="1901952"/>
            <a:ext cx="191109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4748B"/>
                </a:solidFill>
                <a:latin typeface="Aptos"/>
              </a:rPr>
              <a:t>Best primary metric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76872" y="2240280"/>
            <a:ext cx="1911096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6A34A"/>
                </a:solidFill>
                <a:latin typeface="Aptos"/>
              </a:rPr>
              <a:t>ViT Baseline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235440" y="1737360"/>
            <a:ext cx="224028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00032" y="1901952"/>
            <a:ext cx="191109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4748B"/>
                </a:solidFill>
                <a:latin typeface="Aptos"/>
              </a:rPr>
              <a:t>Test ACC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00032" y="2240280"/>
            <a:ext cx="1911096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563EB"/>
                </a:solidFill>
                <a:latin typeface="Aptos"/>
              </a:rPr>
              <a:t>78.03%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12280" y="3154680"/>
            <a:ext cx="224028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76872" y="3319272"/>
            <a:ext cx="191109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4748B"/>
                </a:solidFill>
                <a:latin typeface="Aptos"/>
              </a:rPr>
              <a:t>Runs compared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76872" y="3657600"/>
            <a:ext cx="1911096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891B2"/>
                </a:solidFill>
                <a:latin typeface="Aptos"/>
              </a:rPr>
              <a:t>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35440" y="3154680"/>
            <a:ext cx="224028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00032" y="3319272"/>
            <a:ext cx="191109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4748B"/>
                </a:solidFill>
                <a:latin typeface="Aptos"/>
              </a:rPr>
              <a:t>Metrics tracked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00032" y="3657600"/>
            <a:ext cx="1911096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891B2"/>
                </a:solidFill>
                <a:latin typeface="Aptos"/>
              </a:rPr>
              <a:t>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46520"/>
            <a:ext cx="6035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ptos"/>
              </a:rPr>
              <a:t>This slide replaces generic 'key takeaways' text with meeting-ready comparison statements.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737360" cy="310896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Aptos"/>
              </a:rPr>
              <a:t>Comparison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79552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293B"/>
                </a:solidFill>
                <a:latin typeface="Aptos"/>
              </a:rPr>
              <a:t>Model Comparison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1042415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ptos"/>
              </a:rPr>
              <a:t>This page is keyed off model family, variant, position encoding, and initialization rather than off raw run names.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572768"/>
          <a:ext cx="11155679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7363"/>
                <a:gridCol w="1338681"/>
                <a:gridCol w="1427927"/>
                <a:gridCol w="1427927"/>
                <a:gridCol w="1427927"/>
                <a:gridCol w="1427927"/>
                <a:gridCol w="1427927"/>
              </a:tblGrid>
              <a:tr h="565785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1E293B"/>
                          </a:solidFill>
                          <a:latin typeface="Aptos"/>
                        </a:rPr>
                        <a:t>Run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1E293B"/>
                          </a:solidFill>
                          <a:latin typeface="Aptos"/>
                        </a:rPr>
                        <a:t>Model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1E293B"/>
                          </a:solidFill>
                          <a:latin typeface="Aptos"/>
                        </a:rPr>
                        <a:t>Family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1E293B"/>
                          </a:solidFill>
                          <a:latin typeface="Aptos"/>
                        </a:rPr>
                        <a:t>Variant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1E293B"/>
                          </a:solidFill>
                          <a:latin typeface="Aptos"/>
                        </a:rPr>
                        <a:t>Position Encoding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1E293B"/>
                          </a:solidFill>
                          <a:latin typeface="Aptos"/>
                        </a:rPr>
                        <a:t>Initialization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1E293B"/>
                          </a:solidFill>
                          <a:latin typeface="Aptos"/>
                        </a:rPr>
                        <a:t>Batch / LR / WD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</a:tr>
              <a:tr h="565785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 No Pos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 No Pos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No Pos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None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From scratch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128 / 0.0003 / 0.05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65785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 Baseline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 Baseline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Baseline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Absolute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From scratch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128 / 0.0003 / 0.05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  <a:tr h="565785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 Row-wise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 Row-wise Sinusoidal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Row-wise Sinusoidal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Row-wise Sinusoidal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From scratch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128 / 0.0003 / 0.05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65785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 Column-wise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 Column-wise Sinusoidal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Column-wise Sinusoidal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Column-wise Sinusoidal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From scratch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128 / 0.0003 / 0.05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  <a:tr h="565785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 Additive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 Additive Sinusoidal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Additive Sinusoidal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Additive Sinusoidal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From scratch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128 / 0.0003 / 0.05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65785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 Additive Shifted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 Additive Sinusoidal Shifted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Additive Sinusoidal Shifted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Additive Sinusoidal Shifted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From scratch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128 / 0.0003 / 0.05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  <a:tr h="565785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 Multiplicative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 Multiplicative Sinusoidal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Multiplicative Sinusoidal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Multiplicative Sinusoidal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From scratch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128 / 0.0003 / 0.05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6446520"/>
            <a:ext cx="6035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ptos"/>
              </a:rPr>
              <a:t>Use this page to frame baseline vs RoPE, ViT vs CNN, or scratch vs pretrained before discussing metrics.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737360" cy="310896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Aptos"/>
              </a:rPr>
              <a:t>Comparison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79552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293B"/>
                </a:solidFill>
                <a:latin typeface="Aptos"/>
              </a:rPr>
              <a:t>Model Comparison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1042415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ptos"/>
              </a:rPr>
              <a:t>This page is keyed off model family, variant, position encoding, and initialization rather than off raw run names.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572768"/>
          <a:ext cx="11155679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7363"/>
                <a:gridCol w="1338681"/>
                <a:gridCol w="1427927"/>
                <a:gridCol w="1427927"/>
                <a:gridCol w="1427927"/>
                <a:gridCol w="1427927"/>
                <a:gridCol w="1427927"/>
              </a:tblGrid>
              <a:tr h="226314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1E293B"/>
                          </a:solidFill>
                          <a:latin typeface="Aptos"/>
                        </a:rPr>
                        <a:t>Run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1E293B"/>
                          </a:solidFill>
                          <a:latin typeface="Aptos"/>
                        </a:rPr>
                        <a:t>Model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1E293B"/>
                          </a:solidFill>
                          <a:latin typeface="Aptos"/>
                        </a:rPr>
                        <a:t>Family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1E293B"/>
                          </a:solidFill>
                          <a:latin typeface="Aptos"/>
                        </a:rPr>
                        <a:t>Variant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1E293B"/>
                          </a:solidFill>
                          <a:latin typeface="Aptos"/>
                        </a:rPr>
                        <a:t>Position Encoding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1E293B"/>
                          </a:solidFill>
                          <a:latin typeface="Aptos"/>
                        </a:rPr>
                        <a:t>Initialization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1E293B"/>
                          </a:solidFill>
                          <a:latin typeface="Aptos"/>
                        </a:rPr>
                        <a:t>Batch / LR / WD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</a:tr>
              <a:tr h="226314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 Multiplicative Shifted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 Multiplicative Sinusoidal Shifted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Multiplicative Sinusoidal Shifted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Multiplicative Sinusoidal Shifted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From scratch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128 / 0.0003 / 0.05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6446520"/>
            <a:ext cx="6035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ptos"/>
              </a:rPr>
              <a:t>Use this page to frame baseline vs RoPE, ViT vs CNN, or scratch vs pretrained before discussing metrics.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737360" cy="310896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Aptos"/>
              </a:rPr>
              <a:t>Comparison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79552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293B"/>
                </a:solidFill>
                <a:latin typeface="Aptos"/>
              </a:rPr>
              <a:t>Result Snapshot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1042415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ptos"/>
              </a:rPr>
              <a:t>Compact overview of the most important final metrics and selected checkpoint epoch.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572768"/>
          <a:ext cx="11155678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7363"/>
                <a:gridCol w="1338681"/>
                <a:gridCol w="1189939"/>
                <a:gridCol w="1189939"/>
                <a:gridCol w="1189939"/>
                <a:gridCol w="1189939"/>
                <a:gridCol w="1189939"/>
                <a:gridCol w="1189939"/>
              </a:tblGrid>
              <a:tr h="565785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1E293B"/>
                          </a:solidFill>
                          <a:latin typeface="Aptos"/>
                        </a:rPr>
                        <a:t>Run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1E293B"/>
                          </a:solidFill>
                          <a:latin typeface="Aptos"/>
                        </a:rPr>
                        <a:t>Model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1E293B"/>
                          </a:solidFill>
                          <a:latin typeface="Aptos"/>
                        </a:rPr>
                        <a:t>Variant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1E293B"/>
                          </a:solidFill>
                          <a:latin typeface="Aptos"/>
                        </a:rPr>
                        <a:t>Epochs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1E293B"/>
                          </a:solidFill>
                          <a:latin typeface="Aptos"/>
                        </a:rPr>
                        <a:t>Selected Epoch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1E293B"/>
                          </a:solidFill>
                          <a:latin typeface="Aptos"/>
                        </a:rPr>
                        <a:t>Test ACC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1E293B"/>
                          </a:solidFill>
                          <a:latin typeface="Aptos"/>
                        </a:rPr>
                        <a:t>Val ACC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1E293B"/>
                          </a:solidFill>
                          <a:latin typeface="Aptos"/>
                        </a:rPr>
                        <a:t>Test Loss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</a:tr>
              <a:tr h="565785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 No Pos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 No Pos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No Pos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59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49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71.42%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71.36%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1.1672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65785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 Baseline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 Baseline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Baseline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66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56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78.03%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78.88%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0.9615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  <a:tr h="565785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 Row-wise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 Row-wise Sinusoidal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Row-wise Sinusoidal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61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51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74.62%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74.92%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1.1507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65785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 Column-wise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 Column-wise Sinusoidal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Column-wise Sinusoidal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50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40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74.21%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74.78%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0.8657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  <a:tr h="565785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 Additive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 Additive Sinusoidal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Additive Sinusoidal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70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60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76.05%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77.14%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0.8797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65785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 Additive Shifted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 Additive Sinusoidal Shifted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Additive Sinusoidal Shifted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67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57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77.19%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77.58%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0.8616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  <a:tr h="565785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 Multiplicative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 Multiplicative Sinusoidal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Multiplicative Sinusoidal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48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38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76.18%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77.14%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0.7343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6446520"/>
            <a:ext cx="6035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ptos"/>
              </a:rPr>
              <a:t>This table is intentionally compact so it remains readable on projected slides.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737360" cy="310896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Aptos"/>
              </a:rPr>
              <a:t>Comparison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79552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293B"/>
                </a:solidFill>
                <a:latin typeface="Aptos"/>
              </a:rPr>
              <a:t>Result Snapshot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1042415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ptos"/>
              </a:rPr>
              <a:t>Compact overview of the most important final metrics and selected checkpoint epoch.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572768"/>
          <a:ext cx="11155678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7363"/>
                <a:gridCol w="1338681"/>
                <a:gridCol w="1189939"/>
                <a:gridCol w="1189939"/>
                <a:gridCol w="1189939"/>
                <a:gridCol w="1189939"/>
                <a:gridCol w="1189939"/>
                <a:gridCol w="1189939"/>
              </a:tblGrid>
              <a:tr h="226314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1E293B"/>
                          </a:solidFill>
                          <a:latin typeface="Aptos"/>
                        </a:rPr>
                        <a:t>Run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1E293B"/>
                          </a:solidFill>
                          <a:latin typeface="Aptos"/>
                        </a:rPr>
                        <a:t>Model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1E293B"/>
                          </a:solidFill>
                          <a:latin typeface="Aptos"/>
                        </a:rPr>
                        <a:t>Variant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1E293B"/>
                          </a:solidFill>
                          <a:latin typeface="Aptos"/>
                        </a:rPr>
                        <a:t>Epochs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1E293B"/>
                          </a:solidFill>
                          <a:latin typeface="Aptos"/>
                        </a:rPr>
                        <a:t>Selected Epoch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1E293B"/>
                          </a:solidFill>
                          <a:latin typeface="Aptos"/>
                        </a:rPr>
                        <a:t>Test ACC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1E293B"/>
                          </a:solidFill>
                          <a:latin typeface="Aptos"/>
                        </a:rPr>
                        <a:t>Val ACC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1E293B"/>
                          </a:solidFill>
                          <a:latin typeface="Aptos"/>
                        </a:rPr>
                        <a:t>Test Loss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</a:tr>
              <a:tr h="226314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 Multiplicative Shifted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ViT Multiplicative Sinusoidal Shifted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Multiplicative Sinusoidal Shifted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70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60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77.56%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78.48%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E293B"/>
                          </a:solidFill>
                          <a:latin typeface="Aptos"/>
                        </a:rPr>
                        <a:t>0.8706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6446520"/>
            <a:ext cx="6035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ptos"/>
              </a:rPr>
              <a:t>This table is intentionally compact so it remains readable on projected slides.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737360" cy="310896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Aptos"/>
              </a:rPr>
              <a:t>Comparison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79552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293B"/>
                </a:solidFill>
                <a:latin typeface="Aptos"/>
              </a:rPr>
              <a:t>Main Metrics Comparison (1/6)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1042415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ptos"/>
              </a:rPr>
              <a:t>Each row is a meeting-friendly metric statement rather than a raw logger dump.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572768"/>
          <a:ext cx="11155676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7363"/>
                <a:gridCol w="1338681"/>
                <a:gridCol w="1784908"/>
                <a:gridCol w="1784908"/>
                <a:gridCol w="1784908"/>
                <a:gridCol w="1784908"/>
              </a:tblGrid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Metric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Direction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ViT No Pos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ViT Baseline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ViT Row-wise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ViT Column-wise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Final Test ACC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71.42%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78.03%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74.62%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74.21%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Final Val ACC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71.36%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78.88%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74.92%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74.78%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Final Test Loss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Lower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1.1672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0.9615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1.1507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0.8657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Final Val Loss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Lower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1.1645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0.9667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1.1300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0.8380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Final Train ACC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95.00%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97.74%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97.86%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88.85%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Final Train Loss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Lower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0.1457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0.0658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0.0695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0.3096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Final Val Macro F1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71.24%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78.85%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74.80%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74.51%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Final Test Macro F1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71.35%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78.05%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74.58%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74.05%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6446520"/>
            <a:ext cx="6035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ptos"/>
              </a:rPr>
              <a:t>Direction indicates whether higher or lower values are preferable.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737360" cy="310896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Aptos"/>
              </a:rPr>
              <a:t>Comparison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79552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293B"/>
                </a:solidFill>
                <a:latin typeface="Aptos"/>
              </a:rPr>
              <a:t>Main Metrics Comparison (2/6)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1042415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ptos"/>
              </a:rPr>
              <a:t>Each row is a meeting-friendly metric statement rather than a raw logger dump.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572768"/>
          <a:ext cx="11155676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7363"/>
                <a:gridCol w="1338681"/>
                <a:gridCol w="1784908"/>
                <a:gridCol w="1784908"/>
                <a:gridCol w="1784908"/>
                <a:gridCol w="1784908"/>
              </a:tblGrid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Metric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Direction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ViT Additive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ViT Additive Shifted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ViT Multiplicative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ViT Multiplicative Shifted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Final Test ACC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76.05%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77.19%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76.18%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77.56%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Final Val ACC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77.14%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77.58%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77.14%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78.48%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Final Test Loss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Lower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0.8797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0.8616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0.7343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0.8706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Final Val Loss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Lower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0.8371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0.8473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0.7078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0.8236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Final Train ACC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92.24%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94.49%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85.94%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95.65%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Final Train Loss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Lower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0.2163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0.1572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0.3934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0.1241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Final Val Macro F1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76.71%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77.50%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76.79%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78.39%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Final Test Macro F1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75.77%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77.25%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75.90%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77.54%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6446520"/>
            <a:ext cx="6035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ptos"/>
              </a:rPr>
              <a:t>Direction indicates whether higher or lower values are preferable.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737360" cy="310896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Aptos"/>
              </a:rPr>
              <a:t>Comparison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79552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293B"/>
                </a:solidFill>
                <a:latin typeface="Aptos"/>
              </a:rPr>
              <a:t>Main Metrics Comparison (3/6)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1042415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ptos"/>
              </a:rPr>
              <a:t>Each row is a meeting-friendly metric statement rather than a raw logger dump.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572768"/>
          <a:ext cx="11155679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7363"/>
                <a:gridCol w="1338681"/>
                <a:gridCol w="7139635"/>
              </a:tblGrid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Metric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Direction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Best Run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Final Test ACC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ViT Baseline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Final Val ACC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ViT Baseline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Final Test Loss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Lower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ViT Multiplicative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Final Val Loss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Lower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ViT Multiplicative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Final Train ACC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ViT Row-wise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Final Train Loss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Lower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ViT Baseline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Final Val Macro F1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ViT Baseline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Final Test Macro F1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ViT Baseline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6446520"/>
            <a:ext cx="6035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ptos"/>
              </a:rPr>
              <a:t>Direction indicates whether higher or lower values are preferable.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737360" cy="310896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Aptos"/>
              </a:rPr>
              <a:t>Comparison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79552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293B"/>
                </a:solidFill>
                <a:latin typeface="Aptos"/>
              </a:rPr>
              <a:t>Main Metrics Comparison (4/6)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1042415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ptos"/>
              </a:rPr>
              <a:t>Each row is a meeting-friendly metric statement rather than a raw logger dump.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572768"/>
          <a:ext cx="11155676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7363"/>
                <a:gridCol w="1338681"/>
                <a:gridCol w="1784908"/>
                <a:gridCol w="1784908"/>
                <a:gridCol w="1784908"/>
                <a:gridCol w="1784908"/>
              </a:tblGrid>
              <a:tr h="90525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Metric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Direction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ViT No Pos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ViT Baseline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ViT Row-wise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ViT Column-wise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</a:tr>
              <a:tr h="90525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Selected Test Macro Precision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70.96%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78.79%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74.96%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74.30%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90525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Selected Test Macro Recall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71.04%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78.88%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74.79%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74.33%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  <a:tr h="90525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Selected Val Macro Precision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71.71%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79.03%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75.25%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75.49%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90525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Selected Val Macro Recall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71.63%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78.98%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75.03%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75.32%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6446520"/>
            <a:ext cx="6035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ptos"/>
              </a:rPr>
              <a:t>Direction indicates whether higher or lower values are preferable.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737360" cy="310896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Aptos"/>
              </a:rPr>
              <a:t>Comparison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79552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293B"/>
                </a:solidFill>
                <a:latin typeface="Aptos"/>
              </a:rPr>
              <a:t>Main Metrics Comparison (5/6)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1042415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ptos"/>
              </a:rPr>
              <a:t>Each row is a meeting-friendly metric statement rather than a raw logger dump.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572768"/>
          <a:ext cx="11155676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7363"/>
                <a:gridCol w="1338681"/>
                <a:gridCol w="1784908"/>
                <a:gridCol w="1784908"/>
                <a:gridCol w="1784908"/>
                <a:gridCol w="1784908"/>
              </a:tblGrid>
              <a:tr h="90525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Metric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Direction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ViT Additive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ViT Additive Shifted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ViT Multiplicative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ViT Multiplicative Shifted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</a:tr>
              <a:tr h="90525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Selected Test Macro Precision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77.04%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77.11%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76.62%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77.72%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90525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Selected Test Macro Recall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77.01%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76.92%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76.61%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77.78%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  <a:tr h="90525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Selected Val Macro Precision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77.65%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77.81%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77.51%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78.99%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90525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Selected Val Macro Recall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77.49%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77.66%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77.37%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78.94%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6446520"/>
            <a:ext cx="6035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ptos"/>
              </a:rPr>
              <a:t>Direction indicates whether higher or lower values are preferable.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737360" cy="310896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Aptos"/>
              </a:rPr>
              <a:t>Comparison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79552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293B"/>
                </a:solidFill>
                <a:latin typeface="Aptos"/>
              </a:rPr>
              <a:t>Main Metrics Comparison (6/6)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1042415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ptos"/>
              </a:rPr>
              <a:t>Each row is a meeting-friendly metric statement rather than a raw logger dump.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572768"/>
          <a:ext cx="11155679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7363"/>
                <a:gridCol w="1338681"/>
                <a:gridCol w="7139635"/>
              </a:tblGrid>
              <a:tr h="90525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1">
                          <a:solidFill>
                            <a:srgbClr val="1E293B"/>
                          </a:solidFill>
                          <a:latin typeface="Aptos"/>
                        </a:rPr>
                        <a:t>Metric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1">
                          <a:solidFill>
                            <a:srgbClr val="1E293B"/>
                          </a:solidFill>
                          <a:latin typeface="Aptos"/>
                        </a:rPr>
                        <a:t>Direction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1">
                          <a:solidFill>
                            <a:srgbClr val="1E293B"/>
                          </a:solidFill>
                          <a:latin typeface="Aptos"/>
                        </a:rPr>
                        <a:t>Best Run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</a:tr>
              <a:tr h="90525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Selected Test Macro Precision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ViT Baseline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90525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Selected Test Macro Recall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ViT Baseline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  <a:tr h="90525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Selected Val Macro Precision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ViT Baseline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90525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Selected Val Macro Recall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ViT Baseline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6446520"/>
            <a:ext cx="6035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ptos"/>
              </a:rPr>
              <a:t>Direction indicates whether higher or lower values are preferable.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737360" cy="310896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Aptos"/>
              </a:rPr>
              <a:t>Comparison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79552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293B"/>
                </a:solidFill>
                <a:latin typeface="Aptos"/>
              </a:rPr>
              <a:t>Macro Metrics Table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1042415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ptos"/>
              </a:rPr>
              <a:t>Exact selected-checkpoint macro metrics for precision, recall, and F1.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572768"/>
          <a:ext cx="11155676" cy="45262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7363"/>
                <a:gridCol w="1338681"/>
                <a:gridCol w="1784908"/>
                <a:gridCol w="1784908"/>
                <a:gridCol w="1784908"/>
                <a:gridCol w="1784908"/>
              </a:tblGrid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Macro Metric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Direction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ViT No Pos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ViT Baseline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ViT Row-wise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ViT Column-wise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Final Test Macro F1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71.35%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78.05%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74.58%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74.05%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Selected Test Macro Precision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70.96%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78.79%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74.96%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74.30%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Selected Test Macro Recall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71.04%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78.88%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74.79%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74.33%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Final Val Macro F1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71.24%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78.85%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74.80%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74.51%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Selected Val Macro Precision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71.71%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79.03%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75.25%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75.49%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Selected Val Macro Recall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71.63%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78.98%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75.03%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75.32%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6446520"/>
            <a:ext cx="6035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ptos"/>
              </a:rPr>
              <a:t>This table complements the macro bar chart on the next page.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737360" cy="310896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Aptos"/>
              </a:rPr>
              <a:t>Comparison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79552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293B"/>
                </a:solidFill>
                <a:latin typeface="Aptos"/>
              </a:rPr>
              <a:t>Macro Metrics Table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1042415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ptos"/>
              </a:rPr>
              <a:t>Exact selected-checkpoint macro metrics for precision, recall, and F1.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572768"/>
          <a:ext cx="11155676" cy="45262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7363"/>
                <a:gridCol w="1338681"/>
                <a:gridCol w="1784908"/>
                <a:gridCol w="1784908"/>
                <a:gridCol w="1784908"/>
                <a:gridCol w="1784908"/>
              </a:tblGrid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Macro Metric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Direction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ViT Additive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ViT Additive Shifted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ViT Multiplicative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1E293B"/>
                          </a:solidFill>
                          <a:latin typeface="Aptos"/>
                        </a:rPr>
                        <a:t>ViT Multiplicative Shifted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Final Test Macro F1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75.77%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77.25%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75.90%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77.54%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Selected Test Macro Precision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77.04%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77.11%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76.62%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77.72%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Selected Test Macro Recall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77.01%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76.92%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76.61%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77.78%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Final Val Macro F1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76.71%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77.50%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76.79%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78.39%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Selected Val Macro Precision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77.65%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77.81%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77.51%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78.99%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Selected Val Macro Recall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77.49%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77.66%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77.37%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E293B"/>
                          </a:solidFill>
                          <a:latin typeface="Aptos"/>
                        </a:rPr>
                        <a:t>78.94%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6446520"/>
            <a:ext cx="6035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ptos"/>
              </a:rPr>
              <a:t>This table complements the macro bar chart on the next page.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737360" cy="310896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Aptos"/>
              </a:rPr>
              <a:t>Comparison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79552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293B"/>
                </a:solidFill>
                <a:latin typeface="Aptos"/>
              </a:rPr>
              <a:t>Macro Metrics Table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1042415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ptos"/>
              </a:rPr>
              <a:t>Exact selected-checkpoint macro metrics for precision, recall, and F1.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572768"/>
          <a:ext cx="11155679" cy="45262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7363"/>
                <a:gridCol w="1338681"/>
                <a:gridCol w="7139635"/>
              </a:tblGrid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1">
                          <a:solidFill>
                            <a:srgbClr val="1E293B"/>
                          </a:solidFill>
                          <a:latin typeface="Aptos"/>
                        </a:rPr>
                        <a:t>Macro Metric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1">
                          <a:solidFill>
                            <a:srgbClr val="1E293B"/>
                          </a:solidFill>
                          <a:latin typeface="Aptos"/>
                        </a:rPr>
                        <a:t>Direction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1">
                          <a:solidFill>
                            <a:srgbClr val="1E293B"/>
                          </a:solidFill>
                          <a:latin typeface="Aptos"/>
                        </a:rPr>
                        <a:t>Best Run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Final Test Macro F1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ViT Baseline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Selected Test Macro Precision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ViT Baseline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Selected Test Macro Recall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ViT Baseline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Final Val Macro F1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ViT Baseline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Selected Val Macro Precision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ViT Baseline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Selected Val Macro Recall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Higher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Aptos"/>
                        </a:rPr>
                        <a:t>ViT Baseline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6446520"/>
            <a:ext cx="6035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ptos"/>
              </a:rPr>
              <a:t>This table complements the macro bar chart on the next page.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737360" cy="310896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Aptos"/>
              </a:rPr>
              <a:t>Macro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79552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293B"/>
                </a:solidFill>
                <a:latin typeface="Aptos"/>
              </a:rPr>
              <a:t>Macro Metrics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1042415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ptos"/>
              </a:rPr>
              <a:t>Macro F1, precision, and recall are grouped here for quick meeting discussion.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acro_metrics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64208"/>
            <a:ext cx="6629400" cy="39776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543800" y="1810512"/>
            <a:ext cx="3657600" cy="2651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43800" y="1810512"/>
            <a:ext cx="137160" cy="265176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99831" y="1975104"/>
            <a:ext cx="327355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293B"/>
                </a:solidFill>
                <a:latin typeface="Aptos"/>
              </a:rPr>
              <a:t>Macro readout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99831" y="2377440"/>
            <a:ext cx="3273552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Best Test Macro F1 snapshot: ViT Baseline (78.79%).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Best selected Test Macro Precision: ViT Baseline (78.79%).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Best selected Test Macro Recall: ViT Baseline (78.88%).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46520"/>
            <a:ext cx="6035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ptos"/>
              </a:rPr>
              <a:t>Macro metrics help when accuracy alone hides uneven class performance.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737360" cy="310896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Aptos"/>
              </a:rPr>
              <a:t>Comparison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79552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293B"/>
                </a:solidFill>
                <a:latin typeface="Aptos"/>
              </a:rPr>
              <a:t>Config Differences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1042415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ptos"/>
              </a:rPr>
              <a:t>Showing the top 2 differing settings for experiment traceability.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572768"/>
          <a:ext cx="11155679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7363"/>
                <a:gridCol w="2119579"/>
                <a:gridCol w="2119579"/>
                <a:gridCol w="2119579"/>
                <a:gridCol w="2119579"/>
              </a:tblGrid>
              <a:tr h="1508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1E293B"/>
                          </a:solidFill>
                          <a:latin typeface="Aptos"/>
                        </a:rPr>
                        <a:t>Config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1E293B"/>
                          </a:solidFill>
                          <a:latin typeface="Aptos"/>
                        </a:rPr>
                        <a:t>ViT No Pos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1E293B"/>
                          </a:solidFill>
                          <a:latin typeface="Aptos"/>
                        </a:rPr>
                        <a:t>ViT Baseline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1E293B"/>
                          </a:solidFill>
                          <a:latin typeface="Aptos"/>
                        </a:rPr>
                        <a:t>ViT Row-wise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1E293B"/>
                          </a:solidFill>
                          <a:latin typeface="Aptos"/>
                        </a:rPr>
                        <a:t>ViT Column-wise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</a:tr>
              <a:tr h="1508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E293B"/>
                          </a:solidFill>
                          <a:latin typeface="Aptos"/>
                        </a:rPr>
                        <a:t>command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E293B"/>
                          </a:solidFill>
                          <a:latin typeface="Aptos"/>
                        </a:rPr>
                        <a:t>train_cifar10_experiment.py --model...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E293B"/>
                          </a:solidFill>
                          <a:latin typeface="Aptos"/>
                        </a:rPr>
                        <a:t>train_cifar10_experiment.py --model...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E293B"/>
                          </a:solidFill>
                          <a:latin typeface="Aptos"/>
                        </a:rPr>
                        <a:t>train_cifar10_experiment.py --model...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E293B"/>
                          </a:solidFill>
                          <a:latin typeface="Aptos"/>
                        </a:rPr>
                        <a:t>train_cifar10_experiment.py --model...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1508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E293B"/>
                          </a:solidFill>
                          <a:latin typeface="Aptos"/>
                        </a:rPr>
                        <a:t>outputs.run_name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E293B"/>
                          </a:solidFill>
                          <a:latin typeface="Aptos"/>
                        </a:rPr>
                        <a:t>vit_no_pos_cifar10_seed42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E293B"/>
                          </a:solidFill>
                          <a:latin typeface="Aptos"/>
                        </a:rPr>
                        <a:t>vit_baseline_cifar10_seed42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E293B"/>
                          </a:solidFill>
                          <a:latin typeface="Aptos"/>
                        </a:rPr>
                        <a:t>vit_row_cifar10_seed42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E293B"/>
                          </a:solidFill>
                          <a:latin typeface="Aptos"/>
                        </a:rPr>
                        <a:t>vit_col_cifar10_seed42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6446520"/>
            <a:ext cx="6035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ptos"/>
              </a:rPr>
              <a:t>Long config lists are paginated automatically to avoid overflow and tiny fonts.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737360" cy="310896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Aptos"/>
              </a:rPr>
              <a:t>Comparison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79552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293B"/>
                </a:solidFill>
                <a:latin typeface="Aptos"/>
              </a:rPr>
              <a:t>Config Differences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1042415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ptos"/>
              </a:rPr>
              <a:t>Showing the top 2 differing settings for experiment traceability.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572768"/>
          <a:ext cx="11155679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7363"/>
                <a:gridCol w="2119579"/>
                <a:gridCol w="2119579"/>
                <a:gridCol w="2119579"/>
                <a:gridCol w="2119579"/>
              </a:tblGrid>
              <a:tr h="1508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1E293B"/>
                          </a:solidFill>
                          <a:latin typeface="Aptos"/>
                        </a:rPr>
                        <a:t>Config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1E293B"/>
                          </a:solidFill>
                          <a:latin typeface="Aptos"/>
                        </a:rPr>
                        <a:t>ViT Additive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1E293B"/>
                          </a:solidFill>
                          <a:latin typeface="Aptos"/>
                        </a:rPr>
                        <a:t>ViT Additive Shifted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1E293B"/>
                          </a:solidFill>
                          <a:latin typeface="Aptos"/>
                        </a:rPr>
                        <a:t>ViT Multiplicative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1E293B"/>
                          </a:solidFill>
                          <a:latin typeface="Aptos"/>
                        </a:rPr>
                        <a:t>ViT Multiplicative Shifted</a:t>
                      </a:r>
                    </a:p>
                  </a:txBody>
                  <a:tcPr anchor="ctr" marL="73152" marR="73152" marT="27432" marB="27432">
                    <a:solidFill>
                      <a:srgbClr val="E2E8F0"/>
                    </a:solidFill>
                  </a:tcPr>
                </a:tc>
              </a:tr>
              <a:tr h="1508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E293B"/>
                          </a:solidFill>
                          <a:latin typeface="Aptos"/>
                        </a:rPr>
                        <a:t>command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E293B"/>
                          </a:solidFill>
                          <a:latin typeface="Aptos"/>
                        </a:rPr>
                        <a:t>train_cifar10_experiment.py --model...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E293B"/>
                          </a:solidFill>
                          <a:latin typeface="Aptos"/>
                        </a:rPr>
                        <a:t>train_cifar10_experiment.py --model...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E293B"/>
                          </a:solidFill>
                          <a:latin typeface="Aptos"/>
                        </a:rPr>
                        <a:t>train_cifar10_experiment.py --model...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E293B"/>
                          </a:solidFill>
                          <a:latin typeface="Aptos"/>
                        </a:rPr>
                        <a:t>train_cifar10_experiment.py --model...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1508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E293B"/>
                          </a:solidFill>
                          <a:latin typeface="Aptos"/>
                        </a:rPr>
                        <a:t>outputs.run_name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E293B"/>
                          </a:solidFill>
                          <a:latin typeface="Aptos"/>
                        </a:rPr>
                        <a:t>vit_additive_cifar10_seed42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E293B"/>
                          </a:solidFill>
                          <a:latin typeface="Aptos"/>
                        </a:rPr>
                        <a:t>vit_additive_shifted_cifar10_seed42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E293B"/>
                          </a:solidFill>
                          <a:latin typeface="Aptos"/>
                        </a:rPr>
                        <a:t>vit_multi_cifar10_seed42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E293B"/>
                          </a:solidFill>
                          <a:latin typeface="Aptos"/>
                        </a:rPr>
                        <a:t>vit_multi_shifted_cifar10_seed42</a:t>
                      </a:r>
                    </a:p>
                  </a:txBody>
                  <a:tcPr anchor="ctr" marL="73152" marR="73152" marT="27432" marB="27432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6446520"/>
            <a:ext cx="6035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ptos"/>
              </a:rPr>
              <a:t>Long config lists are paginated automatically to avoid overflow and tiny fonts.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737360" cy="310896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Aptos"/>
              </a:rPr>
              <a:t>Curves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79552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293B"/>
                </a:solidFill>
                <a:latin typeface="Aptos"/>
              </a:rPr>
              <a:t>Training Curves (1/4)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1042415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ptos"/>
              </a:rPr>
              <a:t>Curves use a consistent title pattern and highlight the final operating point.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est_acc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72768"/>
            <a:ext cx="5166360" cy="302626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5166360"/>
            <a:ext cx="51663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E293B"/>
                </a:solidFill>
                <a:latin typeface="Aptos"/>
              </a:rPr>
              <a:t>Test ACC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440680"/>
            <a:ext cx="5166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Aptos"/>
              </a:rPr>
              <a:t>Best final value: ViT Baseline (78.03%)</a:t>
            </a:r>
          </a:p>
        </p:txBody>
      </p:sp>
      <p:pic>
        <p:nvPicPr>
          <p:cNvPr id="10" name="Picture 9" descr="val_acc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1572768"/>
            <a:ext cx="5166360" cy="302626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989320" y="5166360"/>
            <a:ext cx="51663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E293B"/>
                </a:solidFill>
                <a:latin typeface="Aptos"/>
              </a:rPr>
              <a:t>Val ACC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89320" y="5440680"/>
            <a:ext cx="5166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Aptos"/>
              </a:rPr>
              <a:t>Best final value: ViT Baseline (78.88%)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46520"/>
            <a:ext cx="6035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ptos"/>
              </a:rPr>
              <a:t>Use these pages for trend discussion; use tables for exact values.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737360" cy="310896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Aptos"/>
              </a:rPr>
              <a:t>Curves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79552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293B"/>
                </a:solidFill>
                <a:latin typeface="Aptos"/>
              </a:rPr>
              <a:t>Training Curves (2/4)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1042415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ptos"/>
              </a:rPr>
              <a:t>Curves use a consistent title pattern and highlight the final operating point.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est_loss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72768"/>
            <a:ext cx="5166360" cy="302626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5166360"/>
            <a:ext cx="51663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E293B"/>
                </a:solidFill>
                <a:latin typeface="Aptos"/>
              </a:rPr>
              <a:t>Test Loss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440680"/>
            <a:ext cx="5166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Aptos"/>
              </a:rPr>
              <a:t>Best final value: ViT Multiplicative (0.7343)</a:t>
            </a:r>
          </a:p>
        </p:txBody>
      </p:sp>
      <p:pic>
        <p:nvPicPr>
          <p:cNvPr id="10" name="Picture 9" descr="val_loss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1572768"/>
            <a:ext cx="5166360" cy="302626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989320" y="5166360"/>
            <a:ext cx="51663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E293B"/>
                </a:solidFill>
                <a:latin typeface="Aptos"/>
              </a:rPr>
              <a:t>Val Loss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89320" y="5440680"/>
            <a:ext cx="5166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Aptos"/>
              </a:rPr>
              <a:t>Best final value: ViT Multiplicative (0.7078)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46520"/>
            <a:ext cx="6035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ptos"/>
              </a:rPr>
              <a:t>Use these pages for trend discussion; use tables for exact values.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737360" cy="310896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Aptos"/>
              </a:rPr>
              <a:t>Curves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79552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293B"/>
                </a:solidFill>
                <a:latin typeface="Aptos"/>
              </a:rPr>
              <a:t>Training Curves (3/4)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1042415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ptos"/>
              </a:rPr>
              <a:t>Curves use a consistent title pattern and highlight the final operating point.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rain_acc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72768"/>
            <a:ext cx="5166360" cy="302626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5166360"/>
            <a:ext cx="51663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E293B"/>
                </a:solidFill>
                <a:latin typeface="Aptos"/>
              </a:rPr>
              <a:t>Train ACC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440680"/>
            <a:ext cx="5166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Aptos"/>
              </a:rPr>
              <a:t>Best final value: ViT Row-wise (97.86%)</a:t>
            </a:r>
          </a:p>
        </p:txBody>
      </p:sp>
      <p:pic>
        <p:nvPicPr>
          <p:cNvPr id="10" name="Picture 9" descr="train_loss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1572768"/>
            <a:ext cx="5166360" cy="302626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989320" y="5166360"/>
            <a:ext cx="51663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E293B"/>
                </a:solidFill>
                <a:latin typeface="Aptos"/>
              </a:rPr>
              <a:t>Train Loss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89320" y="5440680"/>
            <a:ext cx="5166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Aptos"/>
              </a:rPr>
              <a:t>Best final value: ViT Baseline (0.0658)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46520"/>
            <a:ext cx="6035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ptos"/>
              </a:rPr>
              <a:t>Use these pages for trend discussion; use tables for exact values.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737360" cy="310896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Aptos"/>
              </a:rPr>
              <a:t>Curves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79552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293B"/>
                </a:solidFill>
                <a:latin typeface="Aptos"/>
              </a:rPr>
              <a:t>Training Curves (4/4)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1042415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ptos"/>
              </a:rPr>
              <a:t>Curves use a consistent title pattern and highlight the final operating point.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val_macro_f1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72768"/>
            <a:ext cx="5166360" cy="302626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5166360"/>
            <a:ext cx="51663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E293B"/>
                </a:solidFill>
                <a:latin typeface="Aptos"/>
              </a:rPr>
              <a:t>Val Macro F1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440680"/>
            <a:ext cx="5166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Aptos"/>
              </a:rPr>
              <a:t>Best final value: ViT Baseline (78.85%)</a:t>
            </a:r>
          </a:p>
        </p:txBody>
      </p:sp>
      <p:pic>
        <p:nvPicPr>
          <p:cNvPr id="10" name="Picture 9" descr="test_macro_f1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1572768"/>
            <a:ext cx="5166360" cy="302626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989320" y="5166360"/>
            <a:ext cx="51663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E293B"/>
                </a:solidFill>
                <a:latin typeface="Aptos"/>
              </a:rPr>
              <a:t>Test Macro F1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89320" y="5440680"/>
            <a:ext cx="5166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Aptos"/>
              </a:rPr>
              <a:t>Best final value: ViT Baseline (78.05%)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46520"/>
            <a:ext cx="6035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ptos"/>
              </a:rPr>
              <a:t>Use these pages for trend discussion; use tables for exact values.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737360" cy="310896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Aptos"/>
              </a:rPr>
              <a:t>Error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79552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293B"/>
                </a:solidFill>
                <a:latin typeface="Aptos"/>
              </a:rPr>
              <a:t>Confusion Matrix | ViT No Pos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1042415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ptos"/>
              </a:rPr>
              <a:t>Selected-checkpoint error analysis pulled from existing evaluation outputs.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vit_no_pos_cifar10_seed42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645920"/>
            <a:ext cx="6035040" cy="525632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040880" y="1783080"/>
            <a:ext cx="4160520" cy="3429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040880" y="1783080"/>
            <a:ext cx="137160" cy="3429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96912" y="1947672"/>
            <a:ext cx="3776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293B"/>
                </a:solidFill>
                <a:latin typeface="Aptos"/>
              </a:rPr>
              <a:t>Reading notes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96912" y="2350008"/>
            <a:ext cx="3776472" cy="2715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Selected checkpoint epoch: 49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Selected test accuracy: 71.04%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Selected test macro F1: 70.91%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Top confusion: true dog predicted as cat (186 samples).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Top confusion: true cat predicted as dog (166 samples).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46520"/>
            <a:ext cx="6035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ptos"/>
              </a:rPr>
              <a:t>This page gives a direct bridge from aggregate metrics to class-level failure modes.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737360" cy="310896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Aptos"/>
              </a:rPr>
              <a:t>Error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79552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293B"/>
                </a:solidFill>
                <a:latin typeface="Aptos"/>
              </a:rPr>
              <a:t>Confusion Matrix | ViT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1042415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ptos"/>
              </a:rPr>
              <a:t>Selected-checkpoint error analysis pulled from existing evaluation outputs.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vit_baseline_cifar10_seed42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645920"/>
            <a:ext cx="6035040" cy="525632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040880" y="1783080"/>
            <a:ext cx="4160520" cy="3429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040880" y="1783080"/>
            <a:ext cx="137160" cy="3429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96912" y="1947672"/>
            <a:ext cx="3776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293B"/>
                </a:solidFill>
                <a:latin typeface="Aptos"/>
              </a:rPr>
              <a:t>Reading notes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96912" y="2350008"/>
            <a:ext cx="3776472" cy="2715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Selected checkpoint epoch: 56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Selected test accuracy: 78.88%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Selected test macro F1: 78.79%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Top confusion: true cat predicted as dog (181 samples).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Top confusion: true dog predicted as cat (123 samples).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46520"/>
            <a:ext cx="6035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ptos"/>
              </a:rPr>
              <a:t>This page gives a direct bridge from aggregate metrics to class-level failure modes.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737360" cy="310896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Aptos"/>
              </a:rPr>
              <a:t>Error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79552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293B"/>
                </a:solidFill>
                <a:latin typeface="Aptos"/>
              </a:rPr>
              <a:t>Confusion Matrix | ViT Row-wise Sinusoidal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1042415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ptos"/>
              </a:rPr>
              <a:t>Selected-checkpoint error analysis pulled from existing evaluation outputs.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vit_row_cifar10_seed42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645920"/>
            <a:ext cx="6035040" cy="525632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040880" y="1783080"/>
            <a:ext cx="4160520" cy="3429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040880" y="1783080"/>
            <a:ext cx="137160" cy="3429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96912" y="1947672"/>
            <a:ext cx="3776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293B"/>
                </a:solidFill>
                <a:latin typeface="Aptos"/>
              </a:rPr>
              <a:t>Reading notes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96912" y="2350008"/>
            <a:ext cx="3776472" cy="2715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Selected checkpoint epoch: 51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Selected test accuracy: 74.79%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Selected test macro F1: 74.82%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Top confusion: true dog predicted as cat (208 samples).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Top confusion: true cat predicted as dog (158 samples).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46520"/>
            <a:ext cx="6035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ptos"/>
              </a:rPr>
              <a:t>This page gives a direct bridge from aggregate metrics to class-level failure modes.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737360" cy="310896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Aptos"/>
              </a:rPr>
              <a:t>Error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79552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293B"/>
                </a:solidFill>
                <a:latin typeface="Aptos"/>
              </a:rPr>
              <a:t>Confusion Matrix | ViT Column-wise Sinusoidal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1042415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ptos"/>
              </a:rPr>
              <a:t>Selected-checkpoint error analysis pulled from existing evaluation outputs.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vit_col_cifar10_seed42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645920"/>
            <a:ext cx="6035040" cy="525632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040880" y="1783080"/>
            <a:ext cx="4160520" cy="3429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040880" y="1783080"/>
            <a:ext cx="137160" cy="3429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96912" y="1947672"/>
            <a:ext cx="3776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293B"/>
                </a:solidFill>
                <a:latin typeface="Aptos"/>
              </a:rPr>
              <a:t>Reading notes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96912" y="2350008"/>
            <a:ext cx="3776472" cy="2715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Selected checkpoint epoch: 40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Selected test accuracy: 74.33%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Selected test macro F1: 74.23%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Top confusion: true cat predicted as dog (179 samples).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Top confusion: true dog predicted as cat (132 samples).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46520"/>
            <a:ext cx="6035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ptos"/>
              </a:rPr>
              <a:t>This page gives a direct bridge from aggregate metrics to class-level failure modes.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737360" cy="310896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Aptos"/>
              </a:rPr>
              <a:t>Error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79552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293B"/>
                </a:solidFill>
                <a:latin typeface="Aptos"/>
              </a:rPr>
              <a:t>Confusion Matrix | ViT Additive Sinusoidal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1042415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ptos"/>
              </a:rPr>
              <a:t>Selected-checkpoint error analysis pulled from existing evaluation outputs.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vit_additive_cifar10_seed42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645920"/>
            <a:ext cx="6035040" cy="525632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040880" y="1783080"/>
            <a:ext cx="4160520" cy="3429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040880" y="1783080"/>
            <a:ext cx="137160" cy="3429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96912" y="1947672"/>
            <a:ext cx="3776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293B"/>
                </a:solidFill>
                <a:latin typeface="Aptos"/>
              </a:rPr>
              <a:t>Reading notes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96912" y="2350008"/>
            <a:ext cx="3776472" cy="2715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Selected checkpoint epoch: 60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Selected test accuracy: 77.01%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Selected test macro F1: 76.94%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Top confusion: true cat predicted as dog (186 samples).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Top confusion: true dog predicted as cat (141 samples).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46520"/>
            <a:ext cx="6035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ptos"/>
              </a:rPr>
              <a:t>This page gives a direct bridge from aggregate metrics to class-level failure modes.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737360" cy="310896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Aptos"/>
              </a:rPr>
              <a:t>Error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79552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293B"/>
                </a:solidFill>
                <a:latin typeface="Aptos"/>
              </a:rPr>
              <a:t>Confusion Matrix | ViT Additive Sinusoidal Shifted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1042415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ptos"/>
              </a:rPr>
              <a:t>Selected-checkpoint error analysis pulled from existing evaluation outputs.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vit_additive_shifted_cifar10_seed42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645920"/>
            <a:ext cx="6035040" cy="525632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040880" y="1783080"/>
            <a:ext cx="4160520" cy="3429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040880" y="1783080"/>
            <a:ext cx="137160" cy="3429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96912" y="1947672"/>
            <a:ext cx="3776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293B"/>
                </a:solidFill>
                <a:latin typeface="Aptos"/>
              </a:rPr>
              <a:t>Reading notes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96912" y="2350008"/>
            <a:ext cx="3776472" cy="2715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Selected checkpoint epoch: 57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Selected test accuracy: 76.92%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Selected test macro F1: 76.96%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Top confusion: true dog predicted as cat (182 samples).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Top confusion: true cat predicted as dog (136 samples).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46520"/>
            <a:ext cx="6035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ptos"/>
              </a:rPr>
              <a:t>This page gives a direct bridge from aggregate metrics to class-level failure modes.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737360" cy="310896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Aptos"/>
              </a:rPr>
              <a:t>Error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79552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293B"/>
                </a:solidFill>
                <a:latin typeface="Aptos"/>
              </a:rPr>
              <a:t>Confusion Matrix | ViT Multiplicative Sinusoidal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1042415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ptos"/>
              </a:rPr>
              <a:t>Selected-checkpoint error analysis pulled from existing evaluation outputs.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vit_multi_cifar10_seed42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645920"/>
            <a:ext cx="6035040" cy="525632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040880" y="1783080"/>
            <a:ext cx="4160520" cy="3429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040880" y="1783080"/>
            <a:ext cx="137160" cy="3429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96912" y="1947672"/>
            <a:ext cx="3776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293B"/>
                </a:solidFill>
                <a:latin typeface="Aptos"/>
              </a:rPr>
              <a:t>Reading notes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96912" y="2350008"/>
            <a:ext cx="3776472" cy="2715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Selected checkpoint epoch: 38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Selected test accuracy: 76.61%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Selected test macro F1: 76.28%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Top confusion: true cat predicted as dog (180 samples).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Top confusion: true dog predicted as cat (108 samples).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46520"/>
            <a:ext cx="6035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ptos"/>
              </a:rPr>
              <a:t>This page gives a direct bridge from aggregate metrics to class-level failure modes.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737360" cy="310896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Aptos"/>
              </a:rPr>
              <a:t>Error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79552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293B"/>
                </a:solidFill>
                <a:latin typeface="Aptos"/>
              </a:rPr>
              <a:t>Confusion Matrix | ViT Multiplicative Sinusoidal Shifted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1042415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ptos"/>
              </a:rPr>
              <a:t>Selected-checkpoint error analysis pulled from existing evaluation outputs.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vit_multi_shifted_cifar10_seed42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645920"/>
            <a:ext cx="6035040" cy="525632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040880" y="1783080"/>
            <a:ext cx="4160520" cy="3429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040880" y="1783080"/>
            <a:ext cx="137160" cy="3429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96912" y="1947672"/>
            <a:ext cx="37764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293B"/>
                </a:solidFill>
                <a:latin typeface="Aptos"/>
              </a:rPr>
              <a:t>Reading notes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96912" y="2350008"/>
            <a:ext cx="3776472" cy="2715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Selected checkpoint epoch: 60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Selected test accuracy: 77.78%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Selected test macro F1: 77.72%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Top confusion: true cat predicted as dog (152 samples).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Top confusion: true dog predicted as cat (141 samples).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46520"/>
            <a:ext cx="6035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ptos"/>
              </a:rPr>
              <a:t>This page gives a direct bridge from aggregate metrics to class-level failure modes.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737360" cy="310896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Aptos"/>
              </a:rPr>
              <a:t>Per-Class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79552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293B"/>
                </a:solidFill>
                <a:latin typeface="Aptos"/>
              </a:rPr>
              <a:t>Per-Class Analysis | Test Per Class Accuracy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1042415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ptos"/>
              </a:rPr>
              <a:t>Classwise selected-checkpoint metrics are grouped across runs for easier error analysis.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est_per_class_accuracy_per_c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91640"/>
            <a:ext cx="6903720" cy="352530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726679" y="1810512"/>
            <a:ext cx="3474720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26679" y="1810512"/>
            <a:ext cx="137160" cy="315468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82711" y="1975104"/>
            <a:ext cx="30906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293B"/>
                </a:solidFill>
                <a:latin typeface="Aptos"/>
              </a:rPr>
              <a:t>Key readout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82711" y="2377440"/>
            <a:ext cx="3090672" cy="2441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Highest mean Test Per Class Accuracy: ViT Baseline (78.88%).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Largest cross-run spread appears on class 'automobile' (13.60 pp).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46520"/>
            <a:ext cx="6035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ptos"/>
              </a:rPr>
              <a:t>Use this page to explain which classes move together and which remain difficult.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737360" cy="310896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Aptos"/>
              </a:rPr>
              <a:t>Per-Class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79552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293B"/>
                </a:solidFill>
                <a:latin typeface="Aptos"/>
              </a:rPr>
              <a:t>Per-Class Analysis | Test Per Class F1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1042415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ptos"/>
              </a:rPr>
              <a:t>Classwise selected-checkpoint metrics are grouped across runs for easier error analysis.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est_per_class_f1_per_c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91640"/>
            <a:ext cx="6903720" cy="352530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726679" y="1810512"/>
            <a:ext cx="3474720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26679" y="1810512"/>
            <a:ext cx="137160" cy="315468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82711" y="1975104"/>
            <a:ext cx="30906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293B"/>
                </a:solidFill>
                <a:latin typeface="Aptos"/>
              </a:rPr>
              <a:t>Key readout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82711" y="2377440"/>
            <a:ext cx="3090672" cy="2441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Highest mean Test Per Class F1: ViT Baseline (78.79%).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Largest cross-run spread appears on class 'bird' (10.70 pp).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46520"/>
            <a:ext cx="6035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ptos"/>
              </a:rPr>
              <a:t>Use this page to explain which classes move together and which remain difficult.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737360" cy="310896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Aptos"/>
              </a:rPr>
              <a:t>Per-Class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79552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293B"/>
                </a:solidFill>
                <a:latin typeface="Aptos"/>
              </a:rPr>
              <a:t>Per-Class Analysis | Test Per Class Precision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1042415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ptos"/>
              </a:rPr>
              <a:t>Classwise selected-checkpoint metrics are grouped across runs for easier error analysis.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est_per_class_precision_per_c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91640"/>
            <a:ext cx="6903720" cy="352530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726679" y="1810512"/>
            <a:ext cx="3474720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26679" y="1810512"/>
            <a:ext cx="137160" cy="315468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82711" y="1975104"/>
            <a:ext cx="30906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293B"/>
                </a:solidFill>
                <a:latin typeface="Aptos"/>
              </a:rPr>
              <a:t>Key readout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82711" y="2377440"/>
            <a:ext cx="3090672" cy="2441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Highest mean Test Per Class Precision: ViT Baseline (78.79%).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Largest cross-run spread appears on class 'cat' (16.14 pp).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46520"/>
            <a:ext cx="6035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ptos"/>
              </a:rPr>
              <a:t>Use this page to explain which classes move together and which remain difficult.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737360" cy="310896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Aptos"/>
              </a:rPr>
              <a:t>Per-Class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79552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293B"/>
                </a:solidFill>
                <a:latin typeface="Aptos"/>
              </a:rPr>
              <a:t>Per-Class Analysis | Test Per Class Recall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1042415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ptos"/>
              </a:rPr>
              <a:t>Classwise selected-checkpoint metrics are grouped across runs for easier error analysis.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est_per_class_recall_per_c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91640"/>
            <a:ext cx="6903720" cy="352530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726679" y="1810512"/>
            <a:ext cx="3474720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26679" y="1810512"/>
            <a:ext cx="137160" cy="315468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82711" y="1975104"/>
            <a:ext cx="309067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293B"/>
                </a:solidFill>
                <a:latin typeface="Aptos"/>
              </a:rPr>
              <a:t>Key readout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82711" y="2377440"/>
            <a:ext cx="3090672" cy="2441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Highest mean Test Per Class Recall: ViT Baseline (78.88%).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Largest cross-run spread appears on class 'automobile' (13.60 pp).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46520"/>
            <a:ext cx="6035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ptos"/>
              </a:rPr>
              <a:t>Use this page to explain which classes move together and which remain difficult.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737360" cy="310896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Aptos"/>
              </a:rPr>
              <a:t>Close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79552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293B"/>
                </a:solidFill>
                <a:latin typeface="Aptos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1042415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ptos"/>
              </a:rPr>
              <a:t>Short, reusable wrap-up slide for weekly meetings.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783080"/>
            <a:ext cx="66751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600">
                <a:solidFill>
                  <a:srgbClr val="1E293B"/>
                </a:solidFill>
                <a:latin typeface="Aptos"/>
              </a:rPr>
              <a:t>Current headline result: ViT Baseline leads on Test ACC with 78.03%.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600">
                <a:solidFill>
                  <a:srgbClr val="1E293B"/>
                </a:solidFill>
                <a:latin typeface="Aptos"/>
              </a:rPr>
              <a:t>When presenting baseline vs comparison, use ViT No Pos as reference and report ViT Baseline at +6.61 pp on Test ACC.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600">
                <a:solidFill>
                  <a:srgbClr val="1E293B"/>
                </a:solidFill>
                <a:latin typeface="Aptos"/>
              </a:rPr>
              <a:t>Per-class pages are now included when selected-checkpoint classwise metrics exist, so class imbalance or hard classes can be discussed directly in meetings.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600">
                <a:solidFill>
                  <a:srgbClr val="1E293B"/>
                </a:solidFill>
                <a:latin typeface="Aptos"/>
              </a:rPr>
              <a:t>The deck is now organized for weekly reporting: setup, overview, key metrics, curves, error analysis, and a conclusion slide instead of raw log-style export.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18120" y="1920240"/>
            <a:ext cx="338328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818120" y="1920240"/>
            <a:ext cx="137160" cy="210312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74152" y="2084832"/>
            <a:ext cx="299923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293B"/>
                </a:solidFill>
                <a:latin typeface="Aptos"/>
              </a:rPr>
              <a:t>Recommended next use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74152" y="2487168"/>
            <a:ext cx="2999232" cy="1389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Keep the baseline run first in the command line.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Append new runs with readable labels.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  <a:latin typeface="Aptos"/>
              </a:rPr>
              <a:t>Reuse this deck directly for group meetings.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46520"/>
            <a:ext cx="6035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ptos"/>
              </a:rPr>
              <a:t>The goal is to export a presentable deck, not a raw artifact dump.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